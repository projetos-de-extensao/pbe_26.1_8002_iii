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4" r:id="rId2"/>
    <p:sldId id="256" r:id="rId3"/>
    <p:sldId id="266" r:id="rId4"/>
    <p:sldId id="265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embeddedFontLst>
    <p:embeddedFont>
      <p:font typeface="Afacad Flux" panose="020B0604020202020204" charset="0"/>
      <p:regular r:id="rId13"/>
    </p:embeddedFont>
    <p:embeddedFont>
      <p:font typeface="Host Grotesk" panose="020B0604020202020204" charset="0"/>
      <p:regular r:id="rId14"/>
    </p:embeddedFont>
    <p:embeddedFont>
      <p:font typeface="Intel One Mono" panose="020B0604020202020204" charset="0"/>
      <p:regular r:id="rId15"/>
    </p:embeddedFont>
    <p:embeddedFont>
      <p:font typeface="Inter" panose="020B0604020202020204" charset="0"/>
      <p:regular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311598-834A-8255-DBA4-9C75F31143F2}" v="762" dt="2026-04-16T16:56:40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56DD9-85A2-6C48-9633-BDFF1825827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963CF-C934-4A44-904D-4CFAA9C67F2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62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BF2CB-C0BD-7BC4-0CBC-1115AFDF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43F7DD-5D6F-B709-D7EA-8A7A196AF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DB55A-F0B6-86BC-1FF4-F50233E18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2695A-0E42-B09F-CC09-FDE405F957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52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ADAAAB2-7DA9-F844-4B87-1B253F5FCE17}"/>
              </a:ext>
            </a:extLst>
          </p:cNvPr>
          <p:cNvSpPr/>
          <p:nvPr/>
        </p:nvSpPr>
        <p:spPr>
          <a:xfrm>
            <a:off x="3918190" y="1838864"/>
            <a:ext cx="4967288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72"/>
              </a:lnSpc>
              <a:buNone/>
            </a:pPr>
            <a:r>
              <a:rPr lang="en-US" sz="4560" b="1" kern="0" spc="-91" dirty="0">
                <a:solidFill>
                  <a:srgbClr val="000000">
                    <a:alpha val="99000"/>
                  </a:srgbClr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Projeto Back-End 26.1</a:t>
            </a:r>
            <a:endParaRPr lang="en-US" sz="456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65D2404-7C12-4D21-7B4F-8E97CE1CFA4E}"/>
              </a:ext>
            </a:extLst>
          </p:cNvPr>
          <p:cNvSpPr txBox="1"/>
          <p:nvPr/>
        </p:nvSpPr>
        <p:spPr>
          <a:xfrm>
            <a:off x="4007901" y="2573090"/>
            <a:ext cx="480517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200" dirty="0">
                <a:ea typeface="Calibri"/>
                <a:cs typeface="Calibri"/>
              </a:rPr>
              <a:t>Bernardo Miller, Caio Ximenes, Daniel </a:t>
            </a:r>
            <a:r>
              <a:rPr lang="pt-BR" sz="1200">
                <a:ea typeface="Calibri"/>
                <a:cs typeface="Calibri"/>
              </a:rPr>
              <a:t>Alberto, Lucas</a:t>
            </a:r>
            <a:r>
              <a:rPr lang="pt-BR" sz="1200" dirty="0">
                <a:ea typeface="Calibri"/>
                <a:cs typeface="Calibri"/>
              </a:rPr>
              <a:t> Jesus e Otto Goldner</a:t>
            </a:r>
            <a:endParaRPr lang="pt-B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90850" y="609600"/>
            <a:ext cx="4967288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72"/>
              </a:lnSpc>
              <a:buNone/>
            </a:pPr>
            <a:r>
              <a:rPr lang="en-US" sz="4560" b="1" kern="0" spc="-91" dirty="0">
                <a:solidFill>
                  <a:srgbClr val="000000">
                    <a:alpha val="99000"/>
                  </a:srgbClr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Projeto Back-End 26.1</a:t>
            </a:r>
            <a:endParaRPr lang="en-US" sz="4560" dirty="0"/>
          </a:p>
        </p:txBody>
      </p:sp>
      <p:sp>
        <p:nvSpPr>
          <p:cNvPr id="3" name="Text 1"/>
          <p:cNvSpPr/>
          <p:nvPr/>
        </p:nvSpPr>
        <p:spPr>
          <a:xfrm>
            <a:off x="3886200" y="1343025"/>
            <a:ext cx="4648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10"/>
              </a:lnSpc>
              <a:buNone/>
            </a:pPr>
            <a:r>
              <a:rPr lang="en-US" sz="2280" b="1" i="1" kern="0" spc="-46" dirty="0">
                <a:solidFill>
                  <a:srgbClr val="000000">
                    <a:alpha val="99000"/>
                  </a:srgbClr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Automação de Gestão de Estágios</a:t>
            </a:r>
            <a:endParaRPr lang="en-US" sz="2280" dirty="0"/>
          </a:p>
        </p:txBody>
      </p:sp>
      <p:sp>
        <p:nvSpPr>
          <p:cNvPr id="4" name="Shape 2"/>
          <p:cNvSpPr/>
          <p:nvPr/>
        </p:nvSpPr>
        <p:spPr>
          <a:xfrm>
            <a:off x="3443288" y="1343025"/>
            <a:ext cx="4762500" cy="0"/>
          </a:xfrm>
          <a:prstGeom prst="line">
            <a:avLst/>
          </a:prstGeom>
          <a:noFill/>
          <a:ln w="27146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8896" y="2097297"/>
            <a:ext cx="465089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7"/>
              </a:lnSpc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O </a:t>
            </a:r>
            <a:r>
              <a:rPr lang="en-US" sz="1350" b="1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Desafio</a:t>
            </a: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: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Processos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 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realizados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na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IES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relacionados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ao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estágio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obrigatório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são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muito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manuais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 e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repetitivos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.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Apesar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de simples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toda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comunicação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entre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setores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 é </a:t>
            </a:r>
            <a:r>
              <a:rPr lang="en-US" sz="1350" kern="0" spc="-27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complexa</a:t>
            </a:r>
            <a:r>
              <a:rPr lang="en-US" sz="1350" kern="0" spc="-27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. </a:t>
            </a:r>
          </a:p>
        </p:txBody>
      </p:sp>
      <p:sp>
        <p:nvSpPr>
          <p:cNvPr id="6" name="Text 4"/>
          <p:cNvSpPr/>
          <p:nvPr/>
        </p:nvSpPr>
        <p:spPr>
          <a:xfrm>
            <a:off x="3748896" y="2941518"/>
            <a:ext cx="4648650" cy="317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81"/>
              </a:lnSpc>
            </a:pPr>
            <a:r>
              <a:rPr lang="en-US" sz="1400" b="1" kern="0" spc="-28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Solução</a:t>
            </a:r>
            <a:r>
              <a:rPr lang="en-US" sz="1400" kern="0" spc="-28" dirty="0">
                <a:solidFill>
                  <a:srgbClr val="000000">
                    <a:alpha val="99000"/>
                  </a:srgbClr>
                </a:solidFill>
                <a:latin typeface="Inter"/>
                <a:ea typeface="Inter"/>
                <a:cs typeface="Inter"/>
              </a:rPr>
              <a:t>: </a:t>
            </a:r>
            <a:r>
              <a:rPr lang="en-US" sz="1400" kern="0" spc="-28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Criar</a:t>
            </a:r>
            <a:r>
              <a:rPr lang="en-US" sz="1400" kern="0" spc="-28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um </a:t>
            </a:r>
            <a:r>
              <a:rPr lang="en-US" sz="1400" kern="0" spc="-28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sistema</a:t>
            </a:r>
            <a:r>
              <a:rPr lang="en-US" sz="1400" kern="0" spc="-28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400" kern="0" spc="-28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automatizado</a:t>
            </a:r>
            <a:r>
              <a:rPr lang="en-US" sz="1400" kern="0" spc="-28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400" kern="0" spc="-28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que</a:t>
            </a:r>
            <a:r>
              <a:rPr lang="en-US" sz="1400" kern="0" spc="-28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opera </a:t>
            </a:r>
            <a:r>
              <a:rPr lang="en-US" sz="1400" kern="0" spc="-28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verificações</a:t>
            </a:r>
            <a:r>
              <a:rPr lang="en-US" sz="1400" kern="0" spc="-28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de </a:t>
            </a:r>
            <a:r>
              <a:rPr lang="en-US" sz="1400" kern="0" spc="-28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maneira</a:t>
            </a:r>
            <a:r>
              <a:rPr lang="en-US" sz="1400" kern="0" spc="-28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400" kern="0" spc="-28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automatizada</a:t>
            </a:r>
            <a:r>
              <a:rPr lang="en-US" sz="1400" kern="0" spc="-28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e </a:t>
            </a:r>
            <a:r>
              <a:rPr lang="en-US" sz="1400" kern="0" spc="-28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centraliza</a:t>
            </a:r>
            <a:r>
              <a:rPr lang="en-US" sz="1400" kern="0" spc="-28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a </a:t>
            </a:r>
            <a:r>
              <a:rPr lang="en-US" sz="1400" kern="0" spc="-28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comunicação</a:t>
            </a:r>
            <a:r>
              <a:rPr lang="en-US" sz="1400" kern="0" spc="-28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 entre as partes </a:t>
            </a:r>
            <a:r>
              <a:rPr lang="en-US" sz="1400" kern="0" spc="-28" dirty="0" err="1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envolvidas</a:t>
            </a:r>
            <a:r>
              <a:rPr lang="en-US" sz="1400" kern="0" spc="-28" dirty="0">
                <a:solidFill>
                  <a:srgbClr val="000000">
                    <a:alpha val="99000"/>
                  </a:srgbClr>
                </a:solidFill>
                <a:latin typeface="Roboto"/>
                <a:ea typeface="Roboto"/>
                <a:cs typeface="Roboto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492C3-6E6F-3A9C-3F38-037B9837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AC79D37-EC1E-95B8-67C7-348513CC1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35" y="-3314"/>
            <a:ext cx="9146069" cy="515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72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31AB125A-8511-8737-E752-DE17DD7FDA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4762" y="964665"/>
            <a:ext cx="5839238" cy="2965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362" y="71438"/>
            <a:ext cx="5214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20"/>
              </a:lnSpc>
              <a:buNone/>
            </a:pPr>
            <a:r>
              <a:rPr lang="en-US" sz="2850" b="1" kern="0" spc="-57" dirty="0">
                <a:solidFill>
                  <a:srgbClr val="000000">
                    <a:alpha val="99000"/>
                  </a:srgbClr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Fundamentos Legais (Lei 11.788/08)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29858" y="577251"/>
            <a:ext cx="2058556" cy="2525654"/>
          </a:xfrm>
          <a:prstGeom prst="roundRect">
            <a:avLst>
              <a:gd name="adj" fmla="val 6560"/>
            </a:avLst>
          </a:prstGeom>
          <a:solidFill>
            <a:srgbClr val="F0F7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0267" y="695696"/>
            <a:ext cx="136683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19"/>
              </a:lnSpc>
              <a:buNone/>
            </a:pPr>
            <a:r>
              <a:rPr lang="en-US" sz="1227" b="1" kern="0" spc="-2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Requisitos Formais</a:t>
            </a:r>
            <a:endParaRPr lang="en-US" sz="1227" dirty="0"/>
          </a:p>
        </p:txBody>
      </p:sp>
      <p:sp>
        <p:nvSpPr>
          <p:cNvPr id="5" name="Text 3"/>
          <p:cNvSpPr/>
          <p:nvPr/>
        </p:nvSpPr>
        <p:spPr>
          <a:xfrm>
            <a:off x="219075" y="986783"/>
            <a:ext cx="19433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72"/>
              </a:lnSpc>
              <a:buSzPct val="100000"/>
              <a:buChar char="•"/>
            </a:pPr>
            <a:r>
              <a:rPr lang="en-US" sz="736" b="1" kern="0" spc="-15" dirty="0">
                <a:solidFill>
                  <a:srgbClr val="1B014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Matrícula e Frequência: O aluno deve estar ativo em curso de ensino superior, técnico ou médio.</a:t>
            </a:r>
            <a:endParaRPr lang="en-US" sz="736" dirty="0"/>
          </a:p>
        </p:txBody>
      </p:sp>
      <p:sp>
        <p:nvSpPr>
          <p:cNvPr id="6" name="Text 4"/>
          <p:cNvSpPr/>
          <p:nvPr/>
        </p:nvSpPr>
        <p:spPr>
          <a:xfrm>
            <a:off x="219075" y="1568957"/>
            <a:ext cx="167272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72"/>
              </a:lnSpc>
              <a:buSzPct val="100000"/>
              <a:buChar char="•"/>
            </a:pPr>
            <a:r>
              <a:rPr lang="en-US" sz="736" b="1" kern="0" spc="-15" dirty="0">
                <a:solidFill>
                  <a:srgbClr val="1B014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Termo de Compromisso de Estágio (TCE): Contrato assinado pelo aluno, pela instituição de ensino e pela empresa.</a:t>
            </a:r>
            <a:endParaRPr lang="en-US" sz="736" dirty="0"/>
          </a:p>
        </p:txBody>
      </p:sp>
      <p:sp>
        <p:nvSpPr>
          <p:cNvPr id="7" name="Text 5"/>
          <p:cNvSpPr/>
          <p:nvPr/>
        </p:nvSpPr>
        <p:spPr>
          <a:xfrm>
            <a:off x="231377" y="2290524"/>
            <a:ext cx="16604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72"/>
              </a:lnSpc>
              <a:buSzPct val="100000"/>
              <a:buChar char="•"/>
            </a:pPr>
            <a:r>
              <a:rPr lang="en-US" sz="736" b="1" kern="0" spc="-15" dirty="0">
                <a:solidFill>
                  <a:srgbClr val="1B014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Compatibilidade: As atividades devem ser estritamente ligadas à grade curricular do curso.
</a:t>
            </a:r>
            <a:endParaRPr lang="en-US" sz="736" dirty="0"/>
          </a:p>
        </p:txBody>
      </p:sp>
      <p:sp>
        <p:nvSpPr>
          <p:cNvPr id="8" name="Text 6"/>
          <p:cNvSpPr/>
          <p:nvPr/>
        </p:nvSpPr>
        <p:spPr>
          <a:xfrm>
            <a:off x="1838504" y="1417263"/>
            <a:ext cx="1701423" cy="2538738"/>
          </a:xfrm>
          <a:prstGeom prst="roundRect">
            <a:avLst>
              <a:gd name="adj" fmla="val 8061"/>
            </a:avLst>
          </a:prstGeom>
          <a:solidFill>
            <a:srgbClr val="F0F7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73798" y="1491060"/>
            <a:ext cx="150018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19"/>
              </a:lnSpc>
              <a:buNone/>
            </a:pPr>
            <a:r>
              <a:rPr lang="en-US" sz="1227" b="1" kern="0" spc="-2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Jornada de Atividade</a:t>
            </a:r>
            <a:endParaRPr lang="en-US" sz="1227" dirty="0"/>
          </a:p>
        </p:txBody>
      </p:sp>
      <p:sp>
        <p:nvSpPr>
          <p:cNvPr id="10" name="Text 8"/>
          <p:cNvSpPr/>
          <p:nvPr/>
        </p:nvSpPr>
        <p:spPr>
          <a:xfrm>
            <a:off x="1838504" y="1600520"/>
            <a:ext cx="170142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72"/>
              </a:lnSpc>
              <a:buSzPct val="100000"/>
              <a:buChar char="•"/>
            </a:pPr>
            <a:r>
              <a:rPr lang="en-US" sz="736" b="1" kern="0" spc="-15" dirty="0">
                <a:solidFill>
                  <a:srgbClr val="1B014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6h diárias / 30h semanais: Regra geral para ensino superior e médio regular.
</a:t>
            </a:r>
            <a:endParaRPr lang="en-US" sz="736" dirty="0"/>
          </a:p>
        </p:txBody>
      </p:sp>
      <p:sp>
        <p:nvSpPr>
          <p:cNvPr id="11" name="Text 9"/>
          <p:cNvSpPr/>
          <p:nvPr/>
        </p:nvSpPr>
        <p:spPr>
          <a:xfrm>
            <a:off x="1834404" y="2147030"/>
            <a:ext cx="170142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72"/>
              </a:lnSpc>
              <a:buSzPct val="100000"/>
              <a:buChar char="•"/>
            </a:pPr>
            <a:r>
              <a:rPr lang="en-US" sz="736" b="1" kern="0" spc="-15" dirty="0">
                <a:solidFill>
                  <a:srgbClr val="1B014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4h diárias / 20h semanais: Para educação especial ou EJA.</a:t>
            </a:r>
            <a:endParaRPr lang="en-US" sz="736" dirty="0"/>
          </a:p>
        </p:txBody>
      </p:sp>
      <p:sp>
        <p:nvSpPr>
          <p:cNvPr id="12" name="Text 10"/>
          <p:cNvSpPr/>
          <p:nvPr/>
        </p:nvSpPr>
        <p:spPr>
          <a:xfrm>
            <a:off x="1867202" y="2585710"/>
            <a:ext cx="125454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72"/>
              </a:lnSpc>
              <a:buSzPct val="100000"/>
              <a:buChar char="•"/>
            </a:pPr>
            <a:r>
              <a:rPr lang="en-US" sz="736" b="1" kern="0" spc="-15" dirty="0">
                <a:solidFill>
                  <a:srgbClr val="1B014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Redução de Carga: Em semanas de prova, a carga horária pode ser reduzida à metade para fins de estudo, conforme previsto no TCE.</a:t>
            </a:r>
            <a:endParaRPr lang="en-US" sz="736" dirty="0"/>
          </a:p>
        </p:txBody>
      </p:sp>
      <p:sp>
        <p:nvSpPr>
          <p:cNvPr id="13" name="Text 11"/>
          <p:cNvSpPr/>
          <p:nvPr/>
        </p:nvSpPr>
        <p:spPr>
          <a:xfrm>
            <a:off x="3132525" y="2526347"/>
            <a:ext cx="1731638" cy="2545985"/>
          </a:xfrm>
          <a:prstGeom prst="roundRect">
            <a:avLst>
              <a:gd name="adj" fmla="val 7872"/>
            </a:avLst>
          </a:prstGeom>
          <a:solidFill>
            <a:srgbClr val="F0F7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65236" y="2528313"/>
            <a:ext cx="146208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19"/>
              </a:lnSpc>
              <a:buNone/>
            </a:pPr>
            <a:r>
              <a:rPr lang="en-US" sz="1227" b="1" kern="0" spc="-25" dirty="0">
                <a:solidFill>
                  <a:srgbClr val="000000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Direitos e Benefícios</a:t>
            </a:r>
            <a:endParaRPr lang="en-US" sz="1227" dirty="0"/>
          </a:p>
        </p:txBody>
      </p:sp>
      <p:sp>
        <p:nvSpPr>
          <p:cNvPr id="15" name="Text 13"/>
          <p:cNvSpPr/>
          <p:nvPr/>
        </p:nvSpPr>
        <p:spPr>
          <a:xfrm>
            <a:off x="3132525" y="2637773"/>
            <a:ext cx="160302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72"/>
              </a:lnSpc>
              <a:buSzPct val="100000"/>
              <a:buChar char="•"/>
            </a:pPr>
            <a:r>
              <a:rPr lang="en-US" sz="736" b="1" kern="0" spc="-15" dirty="0">
                <a:solidFill>
                  <a:srgbClr val="1B014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Bolsa-auxílio e Auxílio-transporte: Obrigatórios apenas para estágios não-obrigatórios.</a:t>
            </a:r>
            <a:endParaRPr lang="en-US" sz="736" dirty="0"/>
          </a:p>
        </p:txBody>
      </p:sp>
      <p:sp>
        <p:nvSpPr>
          <p:cNvPr id="16" name="Text 14"/>
          <p:cNvSpPr/>
          <p:nvPr/>
        </p:nvSpPr>
        <p:spPr>
          <a:xfrm>
            <a:off x="3121742" y="3294978"/>
            <a:ext cx="1582528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72"/>
              </a:lnSpc>
              <a:buSzPct val="100000"/>
              <a:buChar char="•"/>
            </a:pPr>
            <a:r>
              <a:rPr lang="en-US" sz="736" b="1" kern="0" spc="-15" dirty="0">
                <a:solidFill>
                  <a:srgbClr val="1B014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Recesso Remunerado: Direito a 30 dias a cada 12 meses (preferencialmente nas férias escolares) ou proporcional ao período estagiado.</a:t>
            </a:r>
            <a:endParaRPr lang="en-US" sz="736" dirty="0"/>
          </a:p>
        </p:txBody>
      </p:sp>
      <p:sp>
        <p:nvSpPr>
          <p:cNvPr id="17" name="Text 15"/>
          <p:cNvSpPr/>
          <p:nvPr/>
        </p:nvSpPr>
        <p:spPr>
          <a:xfrm>
            <a:off x="3123258" y="4248719"/>
            <a:ext cx="1603027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72"/>
              </a:lnSpc>
              <a:buSzPct val="100000"/>
              <a:buChar char="•"/>
            </a:pPr>
            <a:r>
              <a:rPr lang="en-US" sz="736" b="1" kern="0" spc="-15" dirty="0">
                <a:solidFill>
                  <a:srgbClr val="1B014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Seguro: Apólice de seguro contra acidentes pessoais obrigatória sob responsabilidade da empresa.
</a:t>
            </a:r>
            <a:endParaRPr lang="en-US" sz="736" dirty="0"/>
          </a:p>
        </p:txBody>
      </p:sp>
      <p:sp>
        <p:nvSpPr>
          <p:cNvPr id="18" name="Shape 16"/>
          <p:cNvSpPr/>
          <p:nvPr/>
        </p:nvSpPr>
        <p:spPr>
          <a:xfrm>
            <a:off x="419100" y="528638"/>
            <a:ext cx="4286250" cy="0"/>
          </a:xfrm>
          <a:prstGeom prst="line">
            <a:avLst/>
          </a:prstGeom>
          <a:solidFill>
            <a:srgbClr val="D9D9D9"/>
          </a:solidFill>
          <a:ln w="27146">
            <a:solidFill>
              <a:srgbClr val="1B014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0925" y="280988"/>
            <a:ext cx="4133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92"/>
              </a:lnSpc>
              <a:buNone/>
            </a:pPr>
            <a:r>
              <a:rPr lang="en-US" sz="2494" b="1" kern="0" spc="-50" dirty="0">
                <a:solidFill>
                  <a:srgbClr val="000000">
                    <a:alpha val="99000"/>
                  </a:srgbClr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Normas Acadêmicas e Processos </a:t>
            </a:r>
            <a:endParaRPr lang="en-US" sz="2494" dirty="0"/>
          </a:p>
        </p:txBody>
      </p:sp>
      <p:sp>
        <p:nvSpPr>
          <p:cNvPr id="3" name="Text 1"/>
          <p:cNvSpPr/>
          <p:nvPr/>
        </p:nvSpPr>
        <p:spPr>
          <a:xfrm>
            <a:off x="4062412" y="1343025"/>
            <a:ext cx="20478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933"/>
              </a:lnSpc>
              <a:buSzPct val="100000"/>
              <a:buChar char="•"/>
            </a:pPr>
            <a:r>
              <a:rPr lang="en-US" sz="707" b="1" kern="0" spc="-14" dirty="0">
                <a:solidFill>
                  <a:srgbClr val="00000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Documentação Obrigatória: O processo inicia com a validação do TCE e do Plano de Atividades, contendo dados da Concedente, Interveniente e Estagiário.</a:t>
            </a:r>
            <a:endParaRPr lang="en-US" sz="707" dirty="0"/>
          </a:p>
        </p:txBody>
      </p:sp>
      <p:sp>
        <p:nvSpPr>
          <p:cNvPr id="4" name="Text 2"/>
          <p:cNvSpPr/>
          <p:nvPr/>
        </p:nvSpPr>
        <p:spPr>
          <a:xfrm>
            <a:off x="6357938" y="1385888"/>
            <a:ext cx="26874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933"/>
              </a:lnSpc>
              <a:buSzPct val="100000"/>
              <a:buChar char="•"/>
            </a:pPr>
            <a:r>
              <a:rPr lang="en-US" sz="707" b="1" kern="0" spc="-14" dirty="0">
                <a:solidFill>
                  <a:srgbClr val="00000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Prazos e Retroatividade: A instituição não assina documentos com mais de 30 dias retroativos ao início do estágio.
</a:t>
            </a:r>
            <a:endParaRPr lang="en-US" sz="707" dirty="0"/>
          </a:p>
        </p:txBody>
      </p:sp>
      <p:sp>
        <p:nvSpPr>
          <p:cNvPr id="5" name="Text 3"/>
          <p:cNvSpPr/>
          <p:nvPr/>
        </p:nvSpPr>
        <p:spPr>
          <a:xfrm>
            <a:off x="4062412" y="2139890"/>
            <a:ext cx="219551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933"/>
              </a:lnSpc>
              <a:buSzPct val="100000"/>
              <a:buChar char="•"/>
            </a:pPr>
            <a:r>
              <a:rPr lang="en-US" sz="707" b="1" kern="0" spc="-14" dirty="0">
                <a:solidFill>
                  <a:srgbClr val="00000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Ordem de Assinatura: O fluxo de validação exige que a instituição de ensino seja a última a assinar o termo, precedida pelo aluno e pela empresa (com carimbo obrigatório).
</a:t>
            </a:r>
            <a:endParaRPr lang="en-US" sz="707" dirty="0"/>
          </a:p>
        </p:txBody>
      </p:sp>
      <p:sp>
        <p:nvSpPr>
          <p:cNvPr id="6" name="Text 4"/>
          <p:cNvSpPr/>
          <p:nvPr/>
        </p:nvSpPr>
        <p:spPr>
          <a:xfrm>
            <a:off x="6357938" y="1790161"/>
            <a:ext cx="17150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933"/>
              </a:lnSpc>
              <a:buSzPct val="100000"/>
              <a:buChar char="•"/>
            </a:pPr>
            <a:r>
              <a:rPr lang="en-US" sz="707" b="1" kern="0" spc="-14" dirty="0">
                <a:solidFill>
                  <a:srgbClr val="00000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Ética e Compliance: O estagiário deve aderir ao Código de Ética e Anticorrupção da YDUQS.
</a:t>
            </a:r>
            <a:endParaRPr lang="en-US" sz="707" dirty="0"/>
          </a:p>
        </p:txBody>
      </p:sp>
      <p:sp>
        <p:nvSpPr>
          <p:cNvPr id="7" name="Text 5"/>
          <p:cNvSpPr/>
          <p:nvPr/>
        </p:nvSpPr>
        <p:spPr>
          <a:xfrm>
            <a:off x="4062412" y="2828925"/>
            <a:ext cx="2295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933"/>
              </a:lnSpc>
              <a:buSzPct val="100000"/>
              <a:buChar char="•"/>
            </a:pPr>
            <a:r>
              <a:rPr lang="en-US" sz="707" b="1" kern="0" spc="-14" dirty="0">
                <a:solidFill>
                  <a:srgbClr val="00000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LGPD (Lei Geral de Proteção de Dados): Todo tratamento de dados pessoais de alunos e representantes das empresas segue a Lei 13.709/2018, garantindo sigilo e finalidade específica para a gestão do estágio.</a:t>
            </a:r>
            <a:endParaRPr lang="en-US" sz="707" dirty="0"/>
          </a:p>
        </p:txBody>
      </p:sp>
      <p:sp>
        <p:nvSpPr>
          <p:cNvPr id="8" name="Text 6"/>
          <p:cNvSpPr/>
          <p:nvPr/>
        </p:nvSpPr>
        <p:spPr>
          <a:xfrm>
            <a:off x="6348413" y="2253562"/>
            <a:ext cx="1698206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ts val="933"/>
              </a:lnSpc>
              <a:buSzPct val="100000"/>
              <a:buChar char="•"/>
            </a:pPr>
            <a:r>
              <a:rPr lang="en-US" sz="707" b="1" kern="0" spc="-14" dirty="0">
                <a:solidFill>
                  <a:srgbClr val="000000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Rescisão: Pode ocorrer a qualquer momento por ambas as partes via aviso prévio ou automaticamente ao término/trancamento do curso.</a:t>
            </a:r>
            <a:endParaRPr lang="en-US" sz="707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62412" y="1033462"/>
            <a:ext cx="3824288" cy="285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043363" y="609600"/>
            <a:ext cx="4133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92"/>
              </a:lnSpc>
              <a:buNone/>
            </a:pPr>
            <a:r>
              <a:rPr lang="en-US" sz="2494" b="1" kern="0" spc="-50" dirty="0">
                <a:solidFill>
                  <a:srgbClr val="000000">
                    <a:alpha val="99000"/>
                  </a:srgbClr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(Ibmec/YDUQS)</a:t>
            </a:r>
            <a:endParaRPr lang="en-US" sz="249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7900" y="1204913"/>
            <a:ext cx="2189638" cy="2733675"/>
          </a:xfrm>
          <a:prstGeom prst="roundRect">
            <a:avLst>
              <a:gd name="adj" fmla="val 4176"/>
            </a:avLst>
          </a:prstGeom>
          <a:solidFill>
            <a:srgbClr val="528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31956" y="1204913"/>
            <a:ext cx="2189638" cy="2733675"/>
          </a:xfrm>
          <a:prstGeom prst="roundRect">
            <a:avLst>
              <a:gd name="adj" fmla="val 4176"/>
            </a:avLst>
          </a:prstGeom>
          <a:solidFill>
            <a:srgbClr val="528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6479" y="1204913"/>
            <a:ext cx="2189638" cy="2733675"/>
          </a:xfrm>
          <a:prstGeom prst="roundRect">
            <a:avLst>
              <a:gd name="adj" fmla="val 4176"/>
            </a:avLst>
          </a:prstGeom>
          <a:solidFill>
            <a:srgbClr val="528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28830" y="1263363"/>
            <a:ext cx="3857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76"/>
              </a:lnSpc>
              <a:buNone/>
            </a:pPr>
            <a:r>
              <a:rPr lang="en-US" sz="1345" b="1" kern="0" spc="-27" dirty="0">
                <a:solidFill>
                  <a:srgbClr val="FFFFFF">
                    <a:alpha val="99000"/>
                  </a:srgbClr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Zuna</a:t>
            </a:r>
            <a:endParaRPr lang="en-US" sz="1345" dirty="0"/>
          </a:p>
        </p:txBody>
      </p:sp>
      <p:sp>
        <p:nvSpPr>
          <p:cNvPr id="6" name="Text 4"/>
          <p:cNvSpPr/>
          <p:nvPr/>
        </p:nvSpPr>
        <p:spPr>
          <a:xfrm>
            <a:off x="2697519" y="1501660"/>
            <a:ext cx="1214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7"/>
              </a:lnSpc>
              <a:buNone/>
            </a:pPr>
            <a:r>
              <a:rPr lang="en-US" sz="1076" kern="0" spc="-11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UX e Recrutamento</a:t>
            </a:r>
            <a:endParaRPr lang="en-US" sz="1076" dirty="0"/>
          </a:p>
        </p:txBody>
      </p:sp>
      <p:sp>
        <p:nvSpPr>
          <p:cNvPr id="7" name="Text 5"/>
          <p:cNvSpPr/>
          <p:nvPr/>
        </p:nvSpPr>
        <p:spPr>
          <a:xfrm>
            <a:off x="5067002" y="1515149"/>
            <a:ext cx="1128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7"/>
              </a:lnSpc>
              <a:buNone/>
            </a:pPr>
            <a:r>
              <a:rPr lang="en-US" sz="1076" kern="0" spc="-11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Compliance Legal</a:t>
            </a:r>
            <a:endParaRPr lang="en-US" sz="1076" dirty="0"/>
          </a:p>
        </p:txBody>
      </p:sp>
      <p:sp>
        <p:nvSpPr>
          <p:cNvPr id="8" name="Text 6"/>
          <p:cNvSpPr/>
          <p:nvPr/>
        </p:nvSpPr>
        <p:spPr>
          <a:xfrm>
            <a:off x="2310845" y="1798408"/>
            <a:ext cx="1034120" cy="1326372"/>
          </a:xfrm>
          <a:prstGeom prst="roundRect">
            <a:avLst>
              <a:gd name="adj" fmla="val 8842"/>
            </a:avLst>
          </a:prstGeom>
          <a:solidFill>
            <a:srgbClr val="160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05267" y="2027713"/>
            <a:ext cx="84078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807" b="1" kern="0" spc="-16" dirty="0">
                <a:solidFill>
                  <a:srgbClr val="FFFFFF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Interface intuitiva no Módulo do Aluno mantendo o rigor técnico no Back-End.</a:t>
            </a:r>
            <a:endParaRPr lang="en-US" sz="807" dirty="0"/>
          </a:p>
        </p:txBody>
      </p:sp>
      <p:sp>
        <p:nvSpPr>
          <p:cNvPr id="10" name="Text 8"/>
          <p:cNvSpPr/>
          <p:nvPr/>
        </p:nvSpPr>
        <p:spPr>
          <a:xfrm>
            <a:off x="3273028" y="2522292"/>
            <a:ext cx="1034120" cy="1326372"/>
          </a:xfrm>
          <a:prstGeom prst="roundRect">
            <a:avLst>
              <a:gd name="adj" fmla="val 8842"/>
            </a:avLst>
          </a:prstGeom>
          <a:solidFill>
            <a:srgbClr val="1500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17988" y="2522292"/>
            <a:ext cx="8858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8"/>
              </a:lnSpc>
              <a:buNone/>
            </a:pPr>
            <a:r>
              <a:rPr lang="en-US" sz="1211" b="1" kern="0" spc="-2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Ponto Fraco:</a:t>
            </a:r>
            <a:endParaRPr lang="en-US" sz="1211" dirty="0"/>
          </a:p>
        </p:txBody>
      </p:sp>
      <p:sp>
        <p:nvSpPr>
          <p:cNvPr id="12" name="Text 10"/>
          <p:cNvSpPr/>
          <p:nvPr/>
        </p:nvSpPr>
        <p:spPr>
          <a:xfrm>
            <a:off x="2387282" y="1798408"/>
            <a:ext cx="79533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8"/>
              </a:lnSpc>
              <a:buNone/>
            </a:pPr>
            <a:r>
              <a:rPr lang="en-US" sz="1211" b="1" kern="0" spc="-2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Diferencial:</a:t>
            </a:r>
            <a:endParaRPr lang="en-US" sz="1211" dirty="0"/>
          </a:p>
        </p:txBody>
      </p:sp>
      <p:sp>
        <p:nvSpPr>
          <p:cNvPr id="13" name="Text 11"/>
          <p:cNvSpPr/>
          <p:nvPr/>
        </p:nvSpPr>
        <p:spPr>
          <a:xfrm>
            <a:off x="4630871" y="1798408"/>
            <a:ext cx="1034120" cy="1326372"/>
          </a:xfrm>
          <a:prstGeom prst="roundRect">
            <a:avLst>
              <a:gd name="adj" fmla="val 8842"/>
            </a:avLst>
          </a:prstGeom>
          <a:solidFill>
            <a:srgbClr val="160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29790" y="2023217"/>
            <a:ext cx="836289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807" b="1" kern="0" spc="-16" dirty="0">
                <a:solidFill>
                  <a:srgbClr val="FFFFFF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Automação com IA: Pré-análise de documentos para triagem burocrática imediata.</a:t>
            </a:r>
            <a:endParaRPr lang="en-US" sz="807" dirty="0"/>
          </a:p>
        </p:txBody>
      </p:sp>
      <p:sp>
        <p:nvSpPr>
          <p:cNvPr id="15" name="Text 13"/>
          <p:cNvSpPr/>
          <p:nvPr/>
        </p:nvSpPr>
        <p:spPr>
          <a:xfrm>
            <a:off x="5593054" y="2522292"/>
            <a:ext cx="1034120" cy="1326372"/>
          </a:xfrm>
          <a:prstGeom prst="roundRect">
            <a:avLst>
              <a:gd name="adj" fmla="val 8842"/>
            </a:avLst>
          </a:prstGeom>
          <a:solidFill>
            <a:srgbClr val="1500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38019" y="2522292"/>
            <a:ext cx="8858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8"/>
              </a:lnSpc>
              <a:buNone/>
            </a:pPr>
            <a:r>
              <a:rPr lang="en-US" sz="1211" b="1" kern="0" spc="-2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Ponto Fraco:</a:t>
            </a:r>
            <a:endParaRPr lang="en-US" sz="1211" dirty="0"/>
          </a:p>
        </p:txBody>
      </p:sp>
      <p:sp>
        <p:nvSpPr>
          <p:cNvPr id="17" name="Text 15"/>
          <p:cNvSpPr/>
          <p:nvPr/>
        </p:nvSpPr>
        <p:spPr>
          <a:xfrm>
            <a:off x="4707308" y="1798408"/>
            <a:ext cx="79533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8"/>
              </a:lnSpc>
              <a:buNone/>
            </a:pPr>
            <a:r>
              <a:rPr lang="en-US" sz="1211" b="1" kern="0" spc="-2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Diferencial:</a:t>
            </a:r>
            <a:endParaRPr lang="en-US" sz="1211" dirty="0"/>
          </a:p>
        </p:txBody>
      </p:sp>
      <p:sp>
        <p:nvSpPr>
          <p:cNvPr id="18" name="Text 16"/>
          <p:cNvSpPr/>
          <p:nvPr/>
        </p:nvSpPr>
        <p:spPr>
          <a:xfrm>
            <a:off x="6955399" y="1798408"/>
            <a:ext cx="1034120" cy="1434280"/>
          </a:xfrm>
          <a:prstGeom prst="roundRect">
            <a:avLst>
              <a:gd name="adj" fmla="val 8842"/>
            </a:avLst>
          </a:prstGeom>
          <a:solidFill>
            <a:srgbClr val="160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31831" y="1798408"/>
            <a:ext cx="79533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8"/>
              </a:lnSpc>
              <a:buNone/>
            </a:pPr>
            <a:r>
              <a:rPr lang="en-US" sz="1211" b="1" kern="0" spc="-2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Diferencial:</a:t>
            </a:r>
            <a:endParaRPr lang="en-US" sz="1211" dirty="0"/>
          </a:p>
        </p:txBody>
      </p:sp>
      <p:sp>
        <p:nvSpPr>
          <p:cNvPr id="20" name="Text 18"/>
          <p:cNvSpPr/>
          <p:nvPr/>
        </p:nvSpPr>
        <p:spPr>
          <a:xfrm>
            <a:off x="3340471" y="2828032"/>
            <a:ext cx="84977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807" b="1" kern="0" spc="-16" dirty="0">
                <a:solidFill>
                  <a:srgbClr val="FFFFFF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Gestão documental e aprovação institucional rasa.</a:t>
            </a:r>
            <a:endParaRPr lang="en-US" sz="807" dirty="0"/>
          </a:p>
        </p:txBody>
      </p:sp>
      <p:sp>
        <p:nvSpPr>
          <p:cNvPr id="21" name="Text 19"/>
          <p:cNvSpPr/>
          <p:nvPr/>
        </p:nvSpPr>
        <p:spPr>
          <a:xfrm>
            <a:off x="4680333" y="1276851"/>
            <a:ext cx="6429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76"/>
              </a:lnSpc>
              <a:buNone/>
            </a:pPr>
            <a:r>
              <a:rPr lang="en-US" sz="1345" b="1" kern="0" spc="-27" dirty="0">
                <a:solidFill>
                  <a:srgbClr val="FFFFFF">
                    <a:alpha val="99000"/>
                  </a:srgbClr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Facilcon</a:t>
            </a:r>
            <a:endParaRPr lang="en-US" sz="1345" dirty="0"/>
          </a:p>
        </p:txBody>
      </p:sp>
      <p:sp>
        <p:nvSpPr>
          <p:cNvPr id="22" name="Text 20"/>
          <p:cNvSpPr/>
          <p:nvPr/>
        </p:nvSpPr>
        <p:spPr>
          <a:xfrm>
            <a:off x="6955399" y="1276851"/>
            <a:ext cx="10334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76"/>
              </a:lnSpc>
              <a:buNone/>
            </a:pPr>
            <a:r>
              <a:rPr lang="en-US" sz="1345" b="1" kern="0" spc="-27" dirty="0">
                <a:solidFill>
                  <a:srgbClr val="FFFFFF">
                    <a:alpha val="99000"/>
                  </a:srgbClr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Rade Estágio</a:t>
            </a:r>
            <a:endParaRPr lang="en-US" sz="1345" dirty="0"/>
          </a:p>
        </p:txBody>
      </p:sp>
      <p:sp>
        <p:nvSpPr>
          <p:cNvPr id="23" name="Text 21"/>
          <p:cNvSpPr/>
          <p:nvPr/>
        </p:nvSpPr>
        <p:spPr>
          <a:xfrm>
            <a:off x="7049816" y="2023217"/>
            <a:ext cx="84078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807" b="1" kern="0" spc="-16" dirty="0">
                <a:solidFill>
                  <a:srgbClr val="FFFFFF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Dashboard Centralizado: Validação pedagógica e consulta de histórico em poucos cliques.</a:t>
            </a:r>
            <a:endParaRPr lang="en-US" sz="807" dirty="0"/>
          </a:p>
        </p:txBody>
      </p:sp>
      <p:sp>
        <p:nvSpPr>
          <p:cNvPr id="24" name="Text 22"/>
          <p:cNvSpPr/>
          <p:nvPr/>
        </p:nvSpPr>
        <p:spPr>
          <a:xfrm>
            <a:off x="7917577" y="2522292"/>
            <a:ext cx="1034120" cy="1326372"/>
          </a:xfrm>
          <a:prstGeom prst="roundRect">
            <a:avLst>
              <a:gd name="adj" fmla="val 8842"/>
            </a:avLst>
          </a:prstGeom>
          <a:solidFill>
            <a:srgbClr val="1500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2537" y="2522292"/>
            <a:ext cx="89024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98"/>
              </a:lnSpc>
              <a:buNone/>
            </a:pPr>
            <a:r>
              <a:rPr lang="en-US" sz="1211" b="1" kern="0" spc="-24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Ponto Fraco:</a:t>
            </a:r>
            <a:endParaRPr lang="en-US" sz="1211" dirty="0"/>
          </a:p>
        </p:txBody>
      </p:sp>
      <p:sp>
        <p:nvSpPr>
          <p:cNvPr id="26" name="Text 24"/>
          <p:cNvSpPr/>
          <p:nvPr/>
        </p:nvSpPr>
        <p:spPr>
          <a:xfrm>
            <a:off x="5682979" y="2828032"/>
            <a:ext cx="84977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807" b="1" kern="0" spc="-16" dirty="0">
                <a:solidFill>
                  <a:srgbClr val="FFFFFF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Processo 100% manual; gera gargalos e fadiga na Secretaria.</a:t>
            </a:r>
            <a:endParaRPr lang="en-US" sz="807" dirty="0"/>
          </a:p>
        </p:txBody>
      </p:sp>
      <p:sp>
        <p:nvSpPr>
          <p:cNvPr id="27" name="Text 25"/>
          <p:cNvSpPr/>
          <p:nvPr/>
        </p:nvSpPr>
        <p:spPr>
          <a:xfrm>
            <a:off x="8047965" y="2783070"/>
            <a:ext cx="87225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807" b="1" kern="0" spc="-16" dirty="0">
                <a:solidFill>
                  <a:srgbClr val="FFFFFF">
                    <a:alpha val="99000"/>
                  </a:srgbClr>
                </a:solidFill>
                <a:latin typeface="Intel One Mono" pitchFamily="34" charset="0"/>
                <a:ea typeface="Intel One Mono" pitchFamily="34" charset="-122"/>
                <a:cs typeface="Intel One Mono" pitchFamily="34" charset="-120"/>
              </a:rPr>
              <a:t>Visão fragmentada; difícil gestão do status global.</a:t>
            </a:r>
            <a:endParaRPr lang="en-US" sz="807" dirty="0"/>
          </a:p>
        </p:txBody>
      </p:sp>
      <p:sp>
        <p:nvSpPr>
          <p:cNvPr id="28" name="Text 26"/>
          <p:cNvSpPr/>
          <p:nvPr/>
        </p:nvSpPr>
        <p:spPr>
          <a:xfrm>
            <a:off x="7584863" y="1555614"/>
            <a:ext cx="8048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21"/>
              </a:lnSpc>
              <a:buNone/>
            </a:pPr>
            <a:r>
              <a:rPr lang="en-US" sz="1076" kern="0" spc="-22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Ciclo de Vida</a:t>
            </a:r>
            <a:endParaRPr lang="en-US" sz="1076" dirty="0"/>
          </a:p>
        </p:txBody>
      </p:sp>
      <p:sp>
        <p:nvSpPr>
          <p:cNvPr id="29" name="Text 27"/>
          <p:cNvSpPr/>
          <p:nvPr/>
        </p:nvSpPr>
        <p:spPr>
          <a:xfrm>
            <a:off x="1419225" y="209550"/>
            <a:ext cx="6819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92"/>
              </a:lnSpc>
              <a:buNone/>
            </a:pPr>
            <a:r>
              <a:rPr lang="en-US" sz="2494" b="1" kern="0" spc="-50" dirty="0">
                <a:solidFill>
                  <a:srgbClr val="000000">
                    <a:alpha val="99000"/>
                  </a:srgbClr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Benchmarking: Análise de Mercado e Oportunidades</a:t>
            </a:r>
            <a:endParaRPr lang="en-US" sz="2494" dirty="0"/>
          </a:p>
        </p:txBody>
      </p:sp>
      <p:sp>
        <p:nvSpPr>
          <p:cNvPr id="30" name="Shape 28"/>
          <p:cNvSpPr/>
          <p:nvPr/>
        </p:nvSpPr>
        <p:spPr>
          <a:xfrm rot="-8020">
            <a:off x="1924050" y="709457"/>
            <a:ext cx="6191250" cy="0"/>
          </a:xfrm>
          <a:prstGeom prst="line">
            <a:avLst/>
          </a:prstGeom>
          <a:noFill/>
          <a:ln w="27146">
            <a:solidFill>
              <a:srgbClr val="1B014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738" y="95250"/>
            <a:ext cx="4843463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i="1" kern="0" spc="-68" dirty="0">
                <a:solidFill>
                  <a:srgbClr val="000000">
                    <a:alpha val="99000"/>
                  </a:srgbClr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Concepção e Arquitetura de Interface</a:t>
            </a:r>
            <a:endParaRPr lang="en-US" sz="342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725" y="1190625"/>
            <a:ext cx="4314825" cy="3068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6725" y="1319213"/>
            <a:ext cx="3762375" cy="3476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9788" y="61912"/>
            <a:ext cx="62388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i="1" kern="0" spc="-68" dirty="0">
                <a:solidFill>
                  <a:srgbClr val="000000">
                    <a:alpha val="99000"/>
                  </a:srgbClr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Interface do Usuário: Visão do Aluno</a:t>
            </a:r>
            <a:endParaRPr lang="en-US" sz="342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86038" y="609600"/>
            <a:ext cx="5486400" cy="190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81413" y="800100"/>
            <a:ext cx="1428750" cy="1190625"/>
          </a:xfrm>
          <a:prstGeom prst="roundRect">
            <a:avLst/>
          </a:prstGeom>
          <a:solidFill>
            <a:srgbClr val="1B0140"/>
          </a:solidFill>
          <a:ln/>
        </p:spPr>
      </p:sp>
      <p:sp>
        <p:nvSpPr>
          <p:cNvPr id="5" name="Shape 2"/>
          <p:cNvSpPr/>
          <p:nvPr/>
        </p:nvSpPr>
        <p:spPr>
          <a:xfrm>
            <a:off x="3922691" y="1052513"/>
            <a:ext cx="946192" cy="785813"/>
          </a:xfrm>
          <a:prstGeom prst="roundRect">
            <a:avLst/>
          </a:prstGeom>
          <a:solidFill>
            <a:srgbClr val="5283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79464" y="1181100"/>
            <a:ext cx="846841" cy="5286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52376" y="823913"/>
            <a:ext cx="41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</a:t>
            </a:r>
            <a:endParaRPr lang="en-US" sz="128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21078" y="1540669"/>
            <a:ext cx="235348" cy="21042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324475" y="800100"/>
            <a:ext cx="1843088" cy="1309688"/>
          </a:xfrm>
          <a:prstGeom prst="roundRect">
            <a:avLst/>
          </a:prstGeom>
          <a:solidFill>
            <a:srgbClr val="16013E"/>
          </a:solidFill>
          <a:ln/>
        </p:spPr>
      </p:sp>
      <p:sp>
        <p:nvSpPr>
          <p:cNvPr id="10" name="Shape 5"/>
          <p:cNvSpPr/>
          <p:nvPr/>
        </p:nvSpPr>
        <p:spPr>
          <a:xfrm>
            <a:off x="5438775" y="1066800"/>
            <a:ext cx="1619250" cy="952500"/>
          </a:xfrm>
          <a:prstGeom prst="roundRect">
            <a:avLst/>
          </a:prstGeom>
          <a:solidFill>
            <a:srgbClr val="5283FF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10213" y="1195388"/>
            <a:ext cx="1471613" cy="6953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48300" y="852488"/>
            <a:ext cx="647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40" b="1" kern="0" spc="-23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Contratos</a:t>
            </a:r>
            <a:endParaRPr lang="en-US" sz="1140" dirty="0"/>
          </a:p>
        </p:txBody>
      </p:sp>
      <p:sp>
        <p:nvSpPr>
          <p:cNvPr id="13" name="Shape 7"/>
          <p:cNvSpPr/>
          <p:nvPr/>
        </p:nvSpPr>
        <p:spPr>
          <a:xfrm>
            <a:off x="4733925" y="2243138"/>
            <a:ext cx="2071688" cy="1095375"/>
          </a:xfrm>
          <a:prstGeom prst="roundRect">
            <a:avLst/>
          </a:prstGeom>
          <a:solidFill>
            <a:srgbClr val="16013E"/>
          </a:solidFill>
          <a:ln/>
        </p:spPr>
      </p:sp>
      <p:sp>
        <p:nvSpPr>
          <p:cNvPr id="14" name="Shape 8"/>
          <p:cNvSpPr/>
          <p:nvPr/>
        </p:nvSpPr>
        <p:spPr>
          <a:xfrm>
            <a:off x="4829175" y="2471738"/>
            <a:ext cx="1928813" cy="776288"/>
          </a:xfrm>
          <a:prstGeom prst="roundRect">
            <a:avLst/>
          </a:prstGeom>
          <a:solidFill>
            <a:srgbClr val="5283FF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910138" y="2514600"/>
            <a:ext cx="1771650" cy="69056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829175" y="2243138"/>
            <a:ext cx="4048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Perfil</a:t>
            </a:r>
            <a:endParaRPr lang="en-US" sz="1283" dirty="0"/>
          </a:p>
        </p:txBody>
      </p:sp>
      <p:sp>
        <p:nvSpPr>
          <p:cNvPr id="17" name="Shape 10"/>
          <p:cNvSpPr/>
          <p:nvPr/>
        </p:nvSpPr>
        <p:spPr>
          <a:xfrm>
            <a:off x="6981825" y="2357438"/>
            <a:ext cx="1924050" cy="1476375"/>
          </a:xfrm>
          <a:prstGeom prst="roundRect">
            <a:avLst/>
          </a:prstGeom>
          <a:solidFill>
            <a:srgbClr val="16013E"/>
          </a:solidFill>
          <a:ln/>
        </p:spPr>
      </p:sp>
      <p:sp>
        <p:nvSpPr>
          <p:cNvPr id="18" name="Shape 11"/>
          <p:cNvSpPr/>
          <p:nvPr/>
        </p:nvSpPr>
        <p:spPr>
          <a:xfrm>
            <a:off x="7300913" y="2633663"/>
            <a:ext cx="1285875" cy="1095375"/>
          </a:xfrm>
          <a:prstGeom prst="roundRect">
            <a:avLst/>
          </a:prstGeom>
          <a:solidFill>
            <a:srgbClr val="5283FF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381875" y="2705100"/>
            <a:ext cx="1119188" cy="952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043738" y="2405063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Detalhes do Documento</a:t>
            </a:r>
            <a:endParaRPr lang="en-US" sz="128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1262063"/>
            <a:ext cx="2271713" cy="1919288"/>
          </a:xfrm>
          <a:prstGeom prst="roundRect">
            <a:avLst/>
          </a:prstGeom>
          <a:solidFill>
            <a:srgbClr val="190042"/>
          </a:solidFill>
          <a:ln/>
        </p:spPr>
      </p:sp>
      <p:sp>
        <p:nvSpPr>
          <p:cNvPr id="3" name="Shape 1"/>
          <p:cNvSpPr/>
          <p:nvPr/>
        </p:nvSpPr>
        <p:spPr>
          <a:xfrm>
            <a:off x="390525" y="1538288"/>
            <a:ext cx="2038350" cy="1538288"/>
          </a:xfrm>
          <a:prstGeom prst="roundRect">
            <a:avLst/>
          </a:prstGeom>
          <a:solidFill>
            <a:srgbClr val="5283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3875" y="1638300"/>
            <a:ext cx="1771650" cy="13382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7188" y="1309688"/>
            <a:ext cx="72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Contratos</a:t>
            </a:r>
            <a:endParaRPr lang="en-US" sz="1283" dirty="0"/>
          </a:p>
        </p:txBody>
      </p:sp>
      <p:sp>
        <p:nvSpPr>
          <p:cNvPr id="6" name="Shape 3"/>
          <p:cNvSpPr/>
          <p:nvPr/>
        </p:nvSpPr>
        <p:spPr>
          <a:xfrm>
            <a:off x="2724150" y="1262063"/>
            <a:ext cx="1847850" cy="1471613"/>
          </a:xfrm>
          <a:prstGeom prst="roundRect">
            <a:avLst/>
          </a:prstGeom>
          <a:solidFill>
            <a:srgbClr val="16013E"/>
          </a:solidFill>
          <a:ln/>
        </p:spPr>
      </p:sp>
      <p:sp>
        <p:nvSpPr>
          <p:cNvPr id="7" name="Shape 4"/>
          <p:cNvSpPr/>
          <p:nvPr/>
        </p:nvSpPr>
        <p:spPr>
          <a:xfrm>
            <a:off x="2828925" y="1538288"/>
            <a:ext cx="1633538" cy="1066800"/>
          </a:xfrm>
          <a:prstGeom prst="roundRect">
            <a:avLst/>
          </a:prstGeom>
          <a:solidFill>
            <a:srgbClr val="5283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33700" y="1647825"/>
            <a:ext cx="1423988" cy="8429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81300" y="1262063"/>
            <a:ext cx="1624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Avaliação de Contrato</a:t>
            </a:r>
            <a:endParaRPr lang="en-US" sz="1283" dirty="0"/>
          </a:p>
        </p:txBody>
      </p:sp>
      <p:sp>
        <p:nvSpPr>
          <p:cNvPr id="10" name="Shape 6"/>
          <p:cNvSpPr/>
          <p:nvPr/>
        </p:nvSpPr>
        <p:spPr>
          <a:xfrm>
            <a:off x="2733675" y="2976563"/>
            <a:ext cx="2028825" cy="1333500"/>
          </a:xfrm>
          <a:prstGeom prst="roundRect">
            <a:avLst/>
          </a:prstGeom>
          <a:solidFill>
            <a:srgbClr val="16013E"/>
          </a:solidFill>
          <a:ln/>
        </p:spPr>
      </p:sp>
      <p:sp>
        <p:nvSpPr>
          <p:cNvPr id="11" name="Shape 7"/>
          <p:cNvSpPr/>
          <p:nvPr/>
        </p:nvSpPr>
        <p:spPr>
          <a:xfrm>
            <a:off x="2843213" y="3352800"/>
            <a:ext cx="1804988" cy="804863"/>
          </a:xfrm>
          <a:prstGeom prst="roundRect">
            <a:avLst/>
          </a:prstGeom>
          <a:solidFill>
            <a:srgbClr val="5283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71800" y="3448050"/>
            <a:ext cx="1547813" cy="623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86286" y="3076527"/>
            <a:ext cx="166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Empresa de Estágio</a:t>
            </a:r>
            <a:endParaRPr lang="en-US" sz="1283" dirty="0"/>
          </a:p>
        </p:txBody>
      </p:sp>
      <p:sp>
        <p:nvSpPr>
          <p:cNvPr id="14" name="Shape 9"/>
          <p:cNvSpPr/>
          <p:nvPr/>
        </p:nvSpPr>
        <p:spPr>
          <a:xfrm>
            <a:off x="390525" y="3276600"/>
            <a:ext cx="2166938" cy="1390650"/>
          </a:xfrm>
          <a:prstGeom prst="roundRect">
            <a:avLst/>
          </a:prstGeom>
          <a:solidFill>
            <a:srgbClr val="16013E"/>
          </a:solidFill>
          <a:ln/>
        </p:spPr>
      </p:sp>
      <p:sp>
        <p:nvSpPr>
          <p:cNvPr id="15" name="Shape 10"/>
          <p:cNvSpPr/>
          <p:nvPr/>
        </p:nvSpPr>
        <p:spPr>
          <a:xfrm>
            <a:off x="457200" y="3533775"/>
            <a:ext cx="2033588" cy="1033462"/>
          </a:xfrm>
          <a:prstGeom prst="roundRect">
            <a:avLst/>
          </a:prstGeom>
          <a:solidFill>
            <a:srgbClr val="5283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8650" y="3629025"/>
            <a:ext cx="1690688" cy="8477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1963" y="3305175"/>
            <a:ext cx="12430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93"/>
              </a:lnSpc>
              <a:buNone/>
            </a:pPr>
            <a:r>
              <a:rPr lang="en-US" sz="1283" b="1" kern="0" spc="-26" dirty="0">
                <a:solidFill>
                  <a:srgbClr val="FFFFFF">
                    <a:alpha val="99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Busca de Alunos</a:t>
            </a:r>
            <a:endParaRPr lang="en-US" sz="1283" dirty="0"/>
          </a:p>
        </p:txBody>
      </p:sp>
      <p:sp>
        <p:nvSpPr>
          <p:cNvPr id="18" name="Shape 12"/>
          <p:cNvSpPr/>
          <p:nvPr/>
        </p:nvSpPr>
        <p:spPr>
          <a:xfrm>
            <a:off x="285750" y="1095375"/>
            <a:ext cx="4286250" cy="0"/>
          </a:xfrm>
          <a:prstGeom prst="line">
            <a:avLst/>
          </a:prstGeom>
          <a:noFill/>
          <a:ln w="27146">
            <a:solidFill>
              <a:srgbClr val="1E005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38125" y="0"/>
            <a:ext cx="4167188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104"/>
              </a:lnSpc>
              <a:buNone/>
            </a:pPr>
            <a:r>
              <a:rPr lang="en-US" sz="3420" b="1" kern="0" spc="-68" dirty="0">
                <a:solidFill>
                  <a:srgbClr val="000000">
                    <a:alpha val="99000"/>
                  </a:srgbClr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Interface de Gestão: Back-Office e Validação</a:t>
            </a:r>
            <a:endParaRPr lang="en-US" sz="3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caio ximenes</cp:lastModifiedBy>
  <cp:revision>579</cp:revision>
  <dcterms:created xsi:type="dcterms:W3CDTF">2026-04-16T16:04:03Z</dcterms:created>
  <dcterms:modified xsi:type="dcterms:W3CDTF">2026-04-16T16:58:53Z</dcterms:modified>
</cp:coreProperties>
</file>